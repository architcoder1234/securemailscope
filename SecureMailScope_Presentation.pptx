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097280"/>
            <a:ext cx="10360152" cy="4572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/>
          <a:lstStyle/>
          <a:p>
            <a:pPr algn="ctr">
              <a:spcAft>
                <a:spcPts val="1200"/>
              </a:spcAft>
              <a:defRPr sz="1300" b="1">
                <a:solidFill>
                  <a:srgbClr val="FBBF24"/>
                </a:solidFill>
              </a:defRPr>
            </a:pPr>
            <a:r>
              <a:t>SMART INDIA HACKATHON 2026</a:t>
            </a:r>
          </a:p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</a:defRPr>
            </a:pPr>
            <a:r>
              <a:t>SecureMailScope</a:t>
            </a:r>
          </a:p>
          <a:p>
            <a:pPr>
              <a:spcAft>
                <a:spcPts val="2400"/>
              </a:spcAft>
              <a:defRPr sz="1600">
                <a:solidFill>
                  <a:srgbClr val="38BDF8"/>
                </a:solidFill>
              </a:defRPr>
            </a:pPr>
            <a:r>
              <a:t>AI-Assisted Cryptographic Security Posture Assessment for Secure Email Communications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Organization: National Technical Research Organisation (NTRO) | Problem Statement ID: 26159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Theme: Blockchain &amp; Cybersecurity | Category: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NTRO | PS #26159 | BLOCKCHAIN &amp;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Problem Context &amp; The Forensic Analysis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87171"/>
                </a:solidFill>
              </a:defRPr>
            </a:pPr>
            <a:r>
              <a:t>1. Enterprise Email Vulnerability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Email (SMTP, IMAP, POP3) is the primary critical communication backbone.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Widespread silent misconfigurations exist in enterprise email servers.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Obsolete TLS 1.0/1.1 protocols remain active on legacy mail relays.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Broken ciphers (RC4, 3DES, CBC) expose traffic to POODLE &amp; BEAST attacks.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Missing Forward Secrecy (PFS) allows past email traffic to be retroactively decrypted.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BBF24"/>
                </a:solidFill>
              </a:defRPr>
            </a:pPr>
            <a:r>
              <a:t>2. The Limitation of Packet Tools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Tools like Wireshark and tcpdump provide packet decoding, but ZERO security posture scoring.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No automated evaluation against NIST SP 800-52r2 standards.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Security Operations Centers (SOC) must manually inspect hundreds of packet streams.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Subtle STARTTLS stripping and downgrade attacks go unnoticed.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No automated remediation guidance for email administrators.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4D399"/>
                </a:solidFill>
              </a:defRPr>
            </a:pPr>
            <a:r>
              <a:t>3. The SecureMailScope Innovation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100% Passive Network Forensic Framework operating directly on PCAP captures.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Reconstructs TCP email streams and validates STARTTLS negotiation transitions.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Deep X.509 Certificate auditing (Validity, Key Length, Self-signed root).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Deterministic Rule Engine + AI Isolation Forest anomaly detection.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Automated 0-100 posture scoring with exportable JSON, PDF, and HTML audit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NTRO | PS #26159 | BLOCKCHAIN &amp;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 &amp; 5-Stage Forensic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Stage 1: TCP &amp; Protocol Reconstruction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4-Tuple Flow Grouping: (Src IP, Src Port, Dst IP, Dst Port).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Protocol Classifier: SMTP (25/587), SMTPS (465), IMAP (143/993), POP3 (110/995).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Cleartext Credential Monitor: Detects exposed AUTH LOGIN / AUTH PLAIN passwords.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Stage 2: TLS Handshake &amp; Cipher Dissection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Parses multi-record TLS Handshakes (ClientHello &amp; ServerHello).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Version Resolver: SSL 2/3, TLS 1.0, 1.1, 1.2, and TLS 1.3.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NIST SP 800-52r2 Mapping: Evaluates AEAD ciphers, MAC algorithms, and PFS.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BBF24"/>
                </a:solidFill>
              </a:defRPr>
            </a:pPr>
            <a:r>
              <a:t>Stage 3: X.509 Certificate Chain Inspection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ASN.1 DER Parser: Extracts Subject, Issuer, Validity Dates, and Key Type.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Vulnerability Checks: Expired certs, Untrusted Self-signed roots, Weak RSA &lt; 2048-bit.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Signature Hash Validation: Flags broken MD5 and SHA-1 signatures.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4D399"/>
                </a:solidFill>
              </a:defRPr>
            </a:pPr>
            <a:r>
              <a:t>Stage 4 &amp; 5: AI Scoring &amp; Tri-Format Reporting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Rules First, AI Second: Deterministic posture scoring (0-100 &amp; Grade A+ to F).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Isolation Forest ML: Unsupervised multi-dimensional TLS anomaly detection.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Tri-Format Export: One-click export for JSON (SIEM), PDF (Executive), and HTML (Web).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NTRO | PS #26159 | BLOCKCHAIN &amp;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Empirical Verification Across Live Test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87171"/>
                </a:solidFill>
              </a:defRPr>
            </a:pPr>
            <a:r>
              <a:t>Test 1: Plaintext SMTP (Port 25)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Traffic: Plaintext SMTP with Base64 AUTH LOGIN command.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Detected Flaws: [Critical] Unencrypted plain stream + [Critical] Password leak.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Posture Result: Score 0 / 100 [Grade F - Critical Vulnerability].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87171"/>
                </a:solidFill>
              </a:defRPr>
            </a:pPr>
            <a:r>
              <a:t>Test 2: Obsolete TLS 1.0 + RC4 (Port 587)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Traffic: STARTTLS upgrade to deprecated TLS 1.0 with static RSA.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Detected Flaws: [High] RFC 8996 violation + [Critical] Broken RC4 + [High] No PFS.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Posture Result: Score 0 / 100 [Grade F - Critical Vulnerability].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BBF24"/>
                </a:solidFill>
              </a:defRPr>
            </a:pPr>
            <a:r>
              <a:t>Test 3: IMAPS with Expired &amp; Weak Cert (Port 993)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Traffic: TLS 1.2 session with flawed X.509 digital certificate.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Detected Flaws: [High] Expired cert + [Medium] Self-signed + [High] Weak 1024-bit RSA.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Posture Result: Score 20 / 100 [Grade F - Critical Vulnerability].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4D399"/>
                </a:solidFill>
              </a:defRPr>
            </a:pPr>
            <a:r>
              <a:t>Test 4: Fully Hardened Modern SMTPS (Port 465)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Traffic: Implicit TLS with modern TLS 1.3 + AES-256-GCM + ECDHE.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Compliance: Fully compliant with NIST SP 800-52r2 standards.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Posture Result: Score 80-100 / 100 [Grade A - Secure &amp; Compliant].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NTRO | PS #26159 | BLOCKCHAIN &amp;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Interactive SOC Dashboard &amp; Remediation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Interactive SOC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Live Ingestion: Drag-and-drop custom PCAP/PCAPNG or choose synthetic demo scenarios.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Visual Posture Analytics: Pie charts for encryption mode distribution &amp; posture bar charts.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Stream Inspector: Deep session drilldowns displaying client/server endpoints and timings.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Certificate Chain Viewer: Color-coded validity badges and public key metadata inspection.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Real-Time Telemetry: Total packets, email streams, weak ciphers, and cert flaw counters.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4D399"/>
                </a:solidFill>
              </a:defRPr>
            </a:pPr>
            <a:r>
              <a:t>Prioritized Remediation &amp; Impact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Direct Finding-to-Fix Linking: Every penalty links to an actionable mitigation step.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Automated Policy Recommendations: Guidance on enforcing MTA-STS (RFC 8461) and DANE (RFC 7672).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Eliminates Manual Triage: Reduces forensic investigation from hours to under 2 seconds.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SIEM &amp; Data Lake Integration: Standardized JSON outputs for Splunk, Elastic, and OpenSearch.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Air-Gapped Operation: Runs 100% offline with zero external network or cloud calls.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NTRO | PS #26159 | BLOCKCHAIN &amp;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Compliance Standards, Impact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BBF24"/>
                </a:solidFill>
              </a:defRPr>
            </a:pPr>
            <a:r>
              <a:t>Standards Compliance &amp; Verification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NIST SP 800-52 Rev 2: Guidelines for TLS Implementations.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RFC 8996: Formal Deprecation of SSL 2.0/3.0 &amp; TLS 1.0/1.1.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RFC 8461: SMTP Mail Transfer Agent Strict Transport Security (MTA-STS).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RFC 7672: SMTP Security via Opportunistic DANE-TLS.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Explainable AI: Isolation Forest anomaly confidence score prevents black-box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Strategic Impact &amp; Future Roadmap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Zero-Overhead Gateway Auditing: Seamless passive tap on enterprise mail relays.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10Gbps+ Line-Rate Sniffing: Transitioning parser to DPDK / AF_PACKET kernel bypass.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Post-Quantum Cryptography (PQC) Readiness: Scoring transition to ML-KEM (Kyber) &amp; ML-DSA (Dilithium).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MTA-STS Policy Auto-Enforcement: Automated DNS and policy generation.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Tamper-Evident Report Ledger: SHA-256 cryptographic chain of custody for forensics.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